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40748-71C3-4B88-BE00-257BCCC6CA06}"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F2AB5-FF90-4773-91F2-421363EBA6D2}" type="slidenum">
              <a:rPr lang="en-IN" smtClean="0"/>
              <a:t>‹#›</a:t>
            </a:fld>
            <a:endParaRPr lang="en-IN"/>
          </a:p>
        </p:txBody>
      </p:sp>
    </p:spTree>
    <p:extLst>
      <p:ext uri="{BB962C8B-B14F-4D97-AF65-F5344CB8AC3E}">
        <p14:creationId xmlns:p14="http://schemas.microsoft.com/office/powerpoint/2010/main" val="2137462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CF2AB5-FF90-4773-91F2-421363EBA6D2}" type="slidenum">
              <a:rPr lang="en-IN" smtClean="0"/>
              <a:t>3</a:t>
            </a:fld>
            <a:endParaRPr lang="en-IN"/>
          </a:p>
        </p:txBody>
      </p:sp>
    </p:spTree>
    <p:extLst>
      <p:ext uri="{BB962C8B-B14F-4D97-AF65-F5344CB8AC3E}">
        <p14:creationId xmlns:p14="http://schemas.microsoft.com/office/powerpoint/2010/main" val="572355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972125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22089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672216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5587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F58945-99C4-4336-BAB9-33BB3C2AB956}" type="datetimeFigureOut">
              <a:rPr lang="en-IN" smtClean="0"/>
              <a:t>15-09-2026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452390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83550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632319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9532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25679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2074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085520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69508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1670931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194126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642284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99225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48655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9F58945-99C4-4336-BAB9-33BB3C2AB956}" type="datetimeFigureOut">
              <a:rPr lang="en-IN" smtClean="0"/>
              <a:t>15-09-2026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3747E34-0A07-49B2-87FC-3085B1CD174D}" type="slidenum">
              <a:rPr lang="en-IN" smtClean="0"/>
              <a:t>‹#›</a:t>
            </a:fld>
            <a:endParaRPr lang="en-IN"/>
          </a:p>
        </p:txBody>
      </p:sp>
    </p:spTree>
    <p:extLst>
      <p:ext uri="{BB962C8B-B14F-4D97-AF65-F5344CB8AC3E}">
        <p14:creationId xmlns:p14="http://schemas.microsoft.com/office/powerpoint/2010/main" val="212912528"/>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5F47-2899-9EFE-7E94-1212D29FF18E}"/>
              </a:ext>
            </a:extLst>
          </p:cNvPr>
          <p:cNvSpPr>
            <a:spLocks noGrp="1"/>
          </p:cNvSpPr>
          <p:nvPr>
            <p:ph type="ctrTitle"/>
          </p:nvPr>
        </p:nvSpPr>
        <p:spPr>
          <a:xfrm>
            <a:off x="1524000" y="448733"/>
            <a:ext cx="9144000" cy="1998134"/>
          </a:xfrm>
        </p:spPr>
        <p:txBody>
          <a:bodyPr/>
          <a:lstStyle/>
          <a:p>
            <a:r>
              <a:rPr lang="en-IN" sz="4800" dirty="0">
                <a:latin typeface="Calibri" panose="020F0502020204030204" pitchFamily="34" charset="0"/>
                <a:ea typeface="Calibri" panose="020F0502020204030204" pitchFamily="34" charset="0"/>
                <a:cs typeface="Calibri" panose="020F0502020204030204" pitchFamily="34" charset="0"/>
              </a:rPr>
              <a:t>IPL Prediction System Using Random Forest </a:t>
            </a:r>
            <a:r>
              <a:rPr lang="en-IN" sz="4800" dirty="0" err="1">
                <a:latin typeface="Calibri" panose="020F0502020204030204" pitchFamily="34" charset="0"/>
                <a:ea typeface="Calibri" panose="020F0502020204030204" pitchFamily="34" charset="0"/>
                <a:cs typeface="Calibri" panose="020F0502020204030204" pitchFamily="34" charset="0"/>
              </a:rPr>
              <a:t>Ensimble</a:t>
            </a:r>
            <a:r>
              <a:rPr lang="en-IN" sz="4800" dirty="0">
                <a:latin typeface="Calibri" panose="020F0502020204030204" pitchFamily="34" charset="0"/>
                <a:ea typeface="Calibri" panose="020F0502020204030204" pitchFamily="34" charset="0"/>
                <a:cs typeface="Calibri" panose="020F0502020204030204" pitchFamily="34" charset="0"/>
              </a:rPr>
              <a:t> Learning And Logistic Regression</a:t>
            </a:r>
          </a:p>
        </p:txBody>
      </p:sp>
      <p:sp>
        <p:nvSpPr>
          <p:cNvPr id="3" name="Subtitle 2">
            <a:extLst>
              <a:ext uri="{FF2B5EF4-FFF2-40B4-BE49-F238E27FC236}">
                <a16:creationId xmlns:a16="http://schemas.microsoft.com/office/drawing/2014/main" id="{968CB138-A405-3AAF-F7DE-965A39F2FB0A}"/>
              </a:ext>
            </a:extLst>
          </p:cNvPr>
          <p:cNvSpPr>
            <a:spLocks noGrp="1"/>
          </p:cNvSpPr>
          <p:nvPr>
            <p:ph type="subTitle" idx="1"/>
          </p:nvPr>
        </p:nvSpPr>
        <p:spPr>
          <a:xfrm>
            <a:off x="1524000" y="3293533"/>
            <a:ext cx="9144000" cy="1354667"/>
          </a:xfrm>
        </p:spPr>
        <p:txBody>
          <a:bodyPr>
            <a:normAutofit fontScale="85000" lnSpcReduction="20000"/>
          </a:bodyPr>
          <a:lstStyle/>
          <a:p>
            <a:pPr marL="342900" indent="-342900">
              <a:buFontTx/>
              <a:buChar char="-"/>
            </a:pPr>
            <a:r>
              <a:rPr lang="en-IN" dirty="0">
                <a:latin typeface="Calibri" panose="020F0502020204030204" pitchFamily="34" charset="0"/>
                <a:ea typeface="Calibri" panose="020F0502020204030204" pitchFamily="34" charset="0"/>
                <a:cs typeface="Calibri" panose="020F0502020204030204" pitchFamily="34" charset="0"/>
              </a:rPr>
              <a:t>G. Tanay Tej </a:t>
            </a:r>
            <a:r>
              <a:rPr lang="en-IN" dirty="0"/>
              <a:t>– 2420030560</a:t>
            </a:r>
          </a:p>
          <a:p>
            <a:pPr marL="342900" indent="-342900">
              <a:buFontTx/>
              <a:buChar char="-"/>
            </a:pPr>
            <a:r>
              <a:rPr lang="en-IN" dirty="0"/>
              <a:t>Nandan Varma – </a:t>
            </a:r>
          </a:p>
          <a:p>
            <a:pPr marL="342900" indent="-342900">
              <a:buFontTx/>
              <a:buChar char="-"/>
            </a:pPr>
            <a:r>
              <a:rPr lang="en-IN" dirty="0"/>
              <a:t>M. Arjun– </a:t>
            </a:r>
            <a:endParaRPr lang="en-US" dirty="0"/>
          </a:p>
          <a:p>
            <a:pPr marL="342900" indent="-342900">
              <a:buFontTx/>
              <a:buChar char="-"/>
            </a:pPr>
            <a:r>
              <a:rPr lang="en-US" dirty="0"/>
              <a:t>Guide -  DR.N.SUNANDA</a:t>
            </a:r>
            <a:endParaRPr lang="en-IN" dirty="0"/>
          </a:p>
        </p:txBody>
      </p:sp>
    </p:spTree>
    <p:extLst>
      <p:ext uri="{BB962C8B-B14F-4D97-AF65-F5344CB8AC3E}">
        <p14:creationId xmlns:p14="http://schemas.microsoft.com/office/powerpoint/2010/main" val="172584746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40B46-BE2C-CB4C-E835-D8095CE657C5}"/>
              </a:ext>
            </a:extLst>
          </p:cNvPr>
          <p:cNvSpPr>
            <a:spLocks noGrp="1"/>
          </p:cNvSpPr>
          <p:nvPr>
            <p:ph type="title"/>
          </p:nvPr>
        </p:nvSpPr>
        <p:spPr>
          <a:xfrm>
            <a:off x="831850" y="1709738"/>
            <a:ext cx="10515600" cy="315005"/>
          </a:xfrm>
        </p:spPr>
        <p:txBody>
          <a:bodyPr>
            <a:normAutofit fontScale="90000"/>
          </a:bodyPr>
          <a:lstStyle/>
          <a:p>
            <a:r>
              <a:rPr lang="en-IN" sz="6700" dirty="0">
                <a:latin typeface="Calibri" panose="020F0502020204030204" pitchFamily="34" charset="0"/>
                <a:ea typeface="Calibri" panose="020F0502020204030204" pitchFamily="34" charset="0"/>
                <a:cs typeface="Calibri" panose="020F0502020204030204" pitchFamily="34" charset="0"/>
              </a:rPr>
              <a:t>Problem</a:t>
            </a:r>
            <a:r>
              <a:rPr lang="en-IN" dirty="0">
                <a:latin typeface="Calibri" panose="020F0502020204030204" pitchFamily="34" charset="0"/>
                <a:ea typeface="Calibri" panose="020F0502020204030204" pitchFamily="34" charset="0"/>
                <a:cs typeface="Calibri" panose="020F0502020204030204" pitchFamily="34" charset="0"/>
              </a:rPr>
              <a:t> </a:t>
            </a:r>
            <a:r>
              <a:rPr lang="en-IN" sz="6700" dirty="0">
                <a:latin typeface="Calibri" panose="020F0502020204030204" pitchFamily="34" charset="0"/>
                <a:ea typeface="Calibri" panose="020F0502020204030204" pitchFamily="34" charset="0"/>
                <a:cs typeface="Calibri" panose="020F0502020204030204" pitchFamily="34" charset="0"/>
              </a:rPr>
              <a:t>Statement</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C3BF70BF-BE1A-99BF-A32B-6E24D482519B}"/>
              </a:ext>
            </a:extLst>
          </p:cNvPr>
          <p:cNvSpPr>
            <a:spLocks noGrp="1"/>
          </p:cNvSpPr>
          <p:nvPr>
            <p:ph type="body" idx="1"/>
          </p:nvPr>
        </p:nvSpPr>
        <p:spPr>
          <a:xfrm>
            <a:off x="704850" y="1867240"/>
            <a:ext cx="10515600" cy="3803650"/>
          </a:xfrm>
        </p:spPr>
        <p:txBody>
          <a:bodyPr>
            <a:normAutofit/>
          </a:bodyPr>
          <a:lstStyle/>
          <a:p>
            <a:pPr algn="just"/>
            <a:r>
              <a:rPr lang="en-US" dirty="0"/>
              <a:t>IPL matches are influenced by several factors such as team performance, player statistics, venue, toss result, batting and bowling performance, and previous match records. Predicting the outcome of an IPL match manually can be difficult because of the large amount of historical data involved.</a:t>
            </a:r>
          </a:p>
          <a:p>
            <a:pPr algn="just"/>
            <a:r>
              <a:rPr lang="en-US" dirty="0"/>
              <a:t>The main problem is to develop a machine learning-based system that can analyze historical IPL match data and predict the likely winner of a match.</a:t>
            </a:r>
          </a:p>
          <a:p>
            <a:pPr algn="just"/>
            <a:r>
              <a:rPr lang="en-US" dirty="0"/>
              <a:t>The proposed </a:t>
            </a:r>
            <a:r>
              <a:rPr lang="en-US" b="1" dirty="0"/>
              <a:t>IPL Prediction System</a:t>
            </a:r>
            <a:r>
              <a:rPr lang="en-US" dirty="0"/>
              <a:t> uses </a:t>
            </a:r>
            <a:r>
              <a:rPr lang="en-US" b="1" dirty="0"/>
              <a:t>Random Forest Ensemble Learning and Logistic Regression</a:t>
            </a:r>
            <a:r>
              <a:rPr lang="en-US" dirty="0"/>
              <a:t> to identify patterns in historical data and generate predictions about the winning team.</a:t>
            </a:r>
          </a:p>
          <a:p>
            <a:pPr algn="just"/>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3335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CA45-D01C-AB4A-1FEE-7A18910DF9D2}"/>
              </a:ext>
            </a:extLst>
          </p:cNvPr>
          <p:cNvSpPr>
            <a:spLocks noGrp="1"/>
          </p:cNvSpPr>
          <p:nvPr>
            <p:ph type="title"/>
          </p:nvPr>
        </p:nvSpPr>
        <p:spPr>
          <a:xfrm>
            <a:off x="831850" y="1709738"/>
            <a:ext cx="10515600" cy="200705"/>
          </a:xfrm>
        </p:spPr>
        <p:txBody>
          <a:bodyPr>
            <a:noAutofit/>
          </a:bodyPr>
          <a:lstStyle/>
          <a:p>
            <a:r>
              <a:rPr lang="en-IN" dirty="0"/>
              <a:t>Real-world relevance</a:t>
            </a:r>
          </a:p>
        </p:txBody>
      </p:sp>
      <p:sp>
        <p:nvSpPr>
          <p:cNvPr id="3" name="Text Placeholder 2">
            <a:extLst>
              <a:ext uri="{FF2B5EF4-FFF2-40B4-BE49-F238E27FC236}">
                <a16:creationId xmlns:a16="http://schemas.microsoft.com/office/drawing/2014/main" id="{946153D0-6402-5FE3-C60A-88DC8B16F395}"/>
              </a:ext>
            </a:extLst>
          </p:cNvPr>
          <p:cNvSpPr>
            <a:spLocks noGrp="1"/>
          </p:cNvSpPr>
          <p:nvPr>
            <p:ph type="body" idx="1"/>
          </p:nvPr>
        </p:nvSpPr>
        <p:spPr>
          <a:xfrm>
            <a:off x="831850" y="1910444"/>
            <a:ext cx="7968021" cy="3543300"/>
          </a:xfrm>
        </p:spPr>
        <p:txBody>
          <a:bodyPr>
            <a:normAutofit fontScale="85000" lnSpcReduction="20000"/>
          </a:bodyPr>
          <a:lstStyle/>
          <a:p>
            <a:pPr algn="just"/>
            <a:r>
              <a:rPr lang="en-US" dirty="0"/>
              <a:t>IPL generates a large amount of statistical data related to teams, players, matches, venues, and performances.</a:t>
            </a:r>
          </a:p>
          <a:p>
            <a:pPr algn="just"/>
            <a:r>
              <a:rPr lang="en-US" dirty="0"/>
              <a:t>The proposed system can be useful for:</a:t>
            </a:r>
          </a:p>
          <a:p>
            <a:pPr lvl="0" algn="just"/>
            <a:r>
              <a:rPr lang="en-US" dirty="0"/>
              <a:t>Analyzing team performance. </a:t>
            </a:r>
          </a:p>
          <a:p>
            <a:pPr lvl="0" algn="just"/>
            <a:r>
              <a:rPr lang="en-US" dirty="0"/>
              <a:t>Understanding factors affecting match outcomes. </a:t>
            </a:r>
          </a:p>
          <a:p>
            <a:pPr lvl="0" algn="just"/>
            <a:r>
              <a:rPr lang="en-US" dirty="0"/>
              <a:t>Comparing different teams based on historical performance. </a:t>
            </a:r>
          </a:p>
          <a:p>
            <a:pPr lvl="0" algn="just"/>
            <a:r>
              <a:rPr lang="en-US" dirty="0"/>
              <a:t>Supporting cricket analysts in making data-driven predictions. </a:t>
            </a:r>
          </a:p>
          <a:p>
            <a:pPr lvl="0" algn="just"/>
            <a:r>
              <a:rPr lang="en-US" dirty="0"/>
              <a:t>Demonstrating the practical application of machine learning in sports analytics. </a:t>
            </a:r>
          </a:p>
          <a:p>
            <a:pPr algn="just"/>
            <a:r>
              <a:rPr lang="en-US" dirty="0"/>
              <a:t>The project shows how historical sports data can be transformed into meaningful predictions using machine learning techniques.</a:t>
            </a:r>
          </a:p>
          <a:p>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https://images.openai.com/static-rsc-4/8pHekjy62YLJNFCcQVlRL26fHtDG4pGsRJPvOe_We_9_17jVZTgcU2J3swoNfnMTeEjDRTnBURZsVkX_l8Zj3CyjR4_oeUPFNaW3ownsAqK8kCi0GtNOr7UiuJpr-sqQaZyGjbVFMBYnRo2-rtf9_26a8-42DoQzHkBucx95vtqX0hyKpfBHYeHapx6WGChl?purpose=fullsize">
            <a:extLst>
              <a:ext uri="{FF2B5EF4-FFF2-40B4-BE49-F238E27FC236}">
                <a16:creationId xmlns:a16="http://schemas.microsoft.com/office/drawing/2014/main" id="{6CF04D4A-700E-567C-373A-C232F60BF161}"/>
              </a:ext>
            </a:extLst>
          </p:cNvPr>
          <p:cNvPicPr>
            <a:picLocks noChangeAspect="1"/>
          </p:cNvPicPr>
          <p:nvPr/>
        </p:nvPicPr>
        <p:blipFill>
          <a:blip r:embed="rId3"/>
          <a:stretch>
            <a:fillRect/>
          </a:stretch>
        </p:blipFill>
        <p:spPr>
          <a:xfrm>
            <a:off x="8426244" y="1709737"/>
            <a:ext cx="3303640" cy="3826438"/>
          </a:xfrm>
          <a:prstGeom prst="rect">
            <a:avLst/>
          </a:prstGeom>
        </p:spPr>
      </p:pic>
    </p:spTree>
    <p:extLst>
      <p:ext uri="{BB962C8B-B14F-4D97-AF65-F5344CB8AC3E}">
        <p14:creationId xmlns:p14="http://schemas.microsoft.com/office/powerpoint/2010/main" val="113075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4325-4B51-D414-E80F-C715C594D3F7}"/>
              </a:ext>
            </a:extLst>
          </p:cNvPr>
          <p:cNvSpPr>
            <a:spLocks noGrp="1"/>
          </p:cNvSpPr>
          <p:nvPr>
            <p:ph type="title"/>
          </p:nvPr>
        </p:nvSpPr>
        <p:spPr>
          <a:xfrm>
            <a:off x="831850" y="143934"/>
            <a:ext cx="10515600" cy="956733"/>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Motivation for selecting the problem</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C5A13E06-040C-FA65-124D-C249F27F47DC}"/>
              </a:ext>
            </a:extLst>
          </p:cNvPr>
          <p:cNvSpPr>
            <a:spLocks noGrp="1"/>
          </p:cNvSpPr>
          <p:nvPr>
            <p:ph type="body" idx="1"/>
          </p:nvPr>
        </p:nvSpPr>
        <p:spPr>
          <a:xfrm>
            <a:off x="831850" y="1100668"/>
            <a:ext cx="10515600" cy="3462866"/>
          </a:xfrm>
        </p:spPr>
        <p:txBody>
          <a:bodyPr>
            <a:normAutofit/>
          </a:bodyPr>
          <a:lstStyle/>
          <a:p>
            <a:pPr algn="just"/>
            <a:r>
              <a:rPr lang="en-US" sz="1600" dirty="0"/>
              <a:t>Cricket is highly data-driven, and IPL provides a large collection of historical match and player statistics.</a:t>
            </a:r>
          </a:p>
          <a:p>
            <a:pPr algn="just"/>
            <a:r>
              <a:rPr lang="en-US" sz="1600" dirty="0"/>
              <a:t>The main motivation for selecting this problem is to understand how </a:t>
            </a:r>
            <a:r>
              <a:rPr lang="en-US" sz="1600" b="1" dirty="0"/>
              <a:t>machine learning algorithms can be applied to sports prediction</a:t>
            </a:r>
            <a:r>
              <a:rPr lang="en-US" sz="1600" dirty="0"/>
              <a:t>.</a:t>
            </a:r>
          </a:p>
          <a:p>
            <a:pPr algn="just"/>
            <a:r>
              <a:rPr lang="en-US" sz="1600" dirty="0"/>
              <a:t>The project provides an opportunity to work with real-world datasets, perform data preprocessing, select important features, train machine learning models, and evaluate prediction performance.</a:t>
            </a:r>
          </a:p>
          <a:p>
            <a:pPr algn="just"/>
            <a:r>
              <a:rPr lang="en-US" sz="1600" dirty="0"/>
              <a:t>Using both </a:t>
            </a:r>
            <a:r>
              <a:rPr lang="en-US" sz="1600" b="1" dirty="0"/>
              <a:t>Random Forest</a:t>
            </a:r>
            <a:r>
              <a:rPr lang="en-US" sz="1600" dirty="0"/>
              <a:t> and </a:t>
            </a:r>
            <a:r>
              <a:rPr lang="en-US" sz="1600" b="1" dirty="0"/>
              <a:t>Logistic Regression</a:t>
            </a:r>
            <a:r>
              <a:rPr lang="en-US" sz="1600" dirty="0"/>
              <a:t> allows us to compare different machine learning approaches for predicting IPL match outcomes.</a:t>
            </a:r>
          </a:p>
          <a:p>
            <a:pPr algn="just"/>
            <a:endPar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356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7DD3-6FF7-AE24-1D61-77E67C62D4E8}"/>
              </a:ext>
            </a:extLst>
          </p:cNvPr>
          <p:cNvSpPr>
            <a:spLocks noGrp="1"/>
          </p:cNvSpPr>
          <p:nvPr>
            <p:ph type="title"/>
          </p:nvPr>
        </p:nvSpPr>
        <p:spPr>
          <a:xfrm>
            <a:off x="831850" y="310245"/>
            <a:ext cx="10515600" cy="654956"/>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Objectives</a:t>
            </a:r>
          </a:p>
        </p:txBody>
      </p:sp>
      <p:sp>
        <p:nvSpPr>
          <p:cNvPr id="3" name="Text Placeholder 2">
            <a:extLst>
              <a:ext uri="{FF2B5EF4-FFF2-40B4-BE49-F238E27FC236}">
                <a16:creationId xmlns:a16="http://schemas.microsoft.com/office/drawing/2014/main" id="{FA150E79-EC04-34AC-11A3-A8BA148D2D29}"/>
              </a:ext>
            </a:extLst>
          </p:cNvPr>
          <p:cNvSpPr>
            <a:spLocks noGrp="1"/>
          </p:cNvSpPr>
          <p:nvPr>
            <p:ph type="body" idx="1"/>
          </p:nvPr>
        </p:nvSpPr>
        <p:spPr>
          <a:xfrm>
            <a:off x="831850" y="965201"/>
            <a:ext cx="10515600" cy="4088580"/>
          </a:xfrm>
        </p:spPr>
        <p:txBody>
          <a:bodyPr>
            <a:normAutofit/>
          </a:bodyPr>
          <a:lstStyle/>
          <a:p>
            <a:pPr algn="just"/>
            <a:r>
              <a:rPr lang="en-US" sz="1800" b="1" dirty="0"/>
              <a:t>specific and measurable objectives:</a:t>
            </a:r>
            <a:endParaRPr lang="en-US" sz="1800" dirty="0"/>
          </a:p>
          <a:p>
            <a:pPr lvl="0" algn="just"/>
            <a:r>
              <a:rPr lang="en-US" sz="1800" dirty="0"/>
              <a:t>To collect and preprocess historical IPL match data. </a:t>
            </a:r>
          </a:p>
          <a:p>
            <a:pPr lvl="0" algn="just"/>
            <a:r>
              <a:rPr lang="en-US" sz="1800" dirty="0"/>
              <a:t>To identify important factors that influence match outcomes. </a:t>
            </a:r>
          </a:p>
          <a:p>
            <a:pPr lvl="0" algn="just"/>
            <a:r>
              <a:rPr lang="en-US" sz="1800" dirty="0"/>
              <a:t>To perform exploratory data analysis on IPL datasets. </a:t>
            </a:r>
          </a:p>
          <a:p>
            <a:pPr lvl="0" algn="just"/>
            <a:r>
              <a:rPr lang="en-US" sz="1800" dirty="0"/>
              <a:t>To prepare relevant features for machine learning. </a:t>
            </a:r>
          </a:p>
          <a:p>
            <a:pPr lvl="0" algn="just"/>
            <a:r>
              <a:rPr lang="en-US" sz="1800" dirty="0"/>
              <a:t>To develop a prediction model using </a:t>
            </a:r>
            <a:r>
              <a:rPr lang="en-US" sz="1800" b="1" dirty="0"/>
              <a:t>Random Forest Ensemble Learning</a:t>
            </a:r>
            <a:r>
              <a:rPr lang="en-US" sz="1800" dirty="0"/>
              <a:t>. </a:t>
            </a:r>
          </a:p>
          <a:p>
            <a:pPr lvl="0" algn="just"/>
            <a:r>
              <a:rPr lang="en-US" sz="1800" dirty="0"/>
              <a:t>To develop a prediction model using </a:t>
            </a:r>
            <a:r>
              <a:rPr lang="en-US" sz="1800" b="1" dirty="0"/>
              <a:t>Logistic Regression</a:t>
            </a:r>
            <a:r>
              <a:rPr lang="en-US" sz="1800" dirty="0"/>
              <a:t>. </a:t>
            </a:r>
          </a:p>
          <a:p>
            <a:pPr lvl="0" algn="just"/>
            <a:r>
              <a:rPr lang="en-US" sz="1800" dirty="0"/>
              <a:t>To compare the performance of both models. </a:t>
            </a:r>
          </a:p>
          <a:p>
            <a:pPr lvl="0" algn="just"/>
            <a:r>
              <a:rPr lang="en-US" sz="1800" dirty="0"/>
              <a:t>To evaluate the models using suitable performance metrics. </a:t>
            </a:r>
          </a:p>
          <a:p>
            <a:pPr lvl="0" algn="just"/>
            <a:r>
              <a:rPr lang="en-US" sz="1800" dirty="0"/>
              <a:t>To predict the likely winning team based on match-related information.</a:t>
            </a:r>
          </a:p>
          <a:p>
            <a:pPr lvl="0" algn="just"/>
            <a:endParaRPr lang="en-IN" sz="1700" dirty="0">
              <a:solidFill>
                <a:schemeClr val="tx1"/>
              </a:solidFill>
              <a:ea typeface="Calibri" panose="020F0502020204030204" pitchFamily="34" charset="0"/>
              <a:cs typeface="Calibri" panose="020F0502020204030204" pitchFamily="34" charset="0"/>
            </a:endParaRPr>
          </a:p>
          <a:p>
            <a:pPr lvl="0" algn="just"/>
            <a:endParaRPr lang="en-IN" sz="6400" dirty="0">
              <a:ea typeface="Calibri" panose="020F0502020204030204" pitchFamily="34" charset="0"/>
              <a:cs typeface="Calibri" panose="020F0502020204030204" pitchFamily="34" charset="0"/>
            </a:endParaRPr>
          </a:p>
          <a:p>
            <a:pPr algn="just"/>
            <a:endParaRPr lang="en-IN" sz="6400" dirty="0">
              <a:ea typeface="Calibri" panose="020F0502020204030204" pitchFamily="34" charset="0"/>
              <a:cs typeface="Calibri" panose="020F0502020204030204" pitchFamily="34" charset="0"/>
            </a:endParaRPr>
          </a:p>
          <a:p>
            <a:pPr algn="just"/>
            <a:endParaRPr lang="en-IN"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9118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D7C2-3781-5A19-448F-B682274A3400}"/>
              </a:ext>
            </a:extLst>
          </p:cNvPr>
          <p:cNvSpPr>
            <a:spLocks noGrp="1"/>
          </p:cNvSpPr>
          <p:nvPr>
            <p:ph type="title"/>
          </p:nvPr>
        </p:nvSpPr>
        <p:spPr>
          <a:xfrm>
            <a:off x="831850" y="406401"/>
            <a:ext cx="10515600" cy="711200"/>
          </a:xfrm>
        </p:spPr>
        <p:txBody>
          <a:bodyPr>
            <a:normAutofit/>
          </a:bodyPr>
          <a:lstStyle/>
          <a:p>
            <a:r>
              <a:rPr lang="en-IN" dirty="0"/>
              <a:t>Literature survey/existing system</a:t>
            </a:r>
          </a:p>
        </p:txBody>
      </p:sp>
      <p:pic>
        <p:nvPicPr>
          <p:cNvPr id="4" name="Picture 3">
            <a:extLst>
              <a:ext uri="{FF2B5EF4-FFF2-40B4-BE49-F238E27FC236}">
                <a16:creationId xmlns:a16="http://schemas.microsoft.com/office/drawing/2014/main" id="{40BF88AF-A379-6038-DDA3-4D81DF4228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310" y="440564"/>
            <a:ext cx="11729884" cy="5976871"/>
          </a:xfrm>
          <a:prstGeom prst="rect">
            <a:avLst/>
          </a:prstGeom>
        </p:spPr>
      </p:pic>
    </p:spTree>
    <p:extLst>
      <p:ext uri="{BB962C8B-B14F-4D97-AF65-F5344CB8AC3E}">
        <p14:creationId xmlns:p14="http://schemas.microsoft.com/office/powerpoint/2010/main" val="1843807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DAAC-222F-2FCC-81D5-85F5F093BA40}"/>
              </a:ext>
            </a:extLst>
          </p:cNvPr>
          <p:cNvSpPr>
            <a:spLocks noGrp="1"/>
          </p:cNvSpPr>
          <p:nvPr>
            <p:ph type="title"/>
          </p:nvPr>
        </p:nvSpPr>
        <p:spPr>
          <a:xfrm>
            <a:off x="831850" y="203201"/>
            <a:ext cx="10515600" cy="1227666"/>
          </a:xfrm>
        </p:spPr>
        <p:txBody>
          <a:bodyPr>
            <a:normAutofit fontScale="90000"/>
          </a:bodyPr>
          <a:lstStyle/>
          <a:p>
            <a:r>
              <a:rPr lang="en-IN" b="1" dirty="0"/>
              <a:t>Project Methodology</a:t>
            </a:r>
            <a:br>
              <a:rPr lang="en-IN" b="1" dirty="0"/>
            </a:br>
            <a:endParaRPr lang="en-IN" dirty="0"/>
          </a:p>
        </p:txBody>
      </p:sp>
      <p:sp>
        <p:nvSpPr>
          <p:cNvPr id="3" name="Text Placeholder 2">
            <a:extLst>
              <a:ext uri="{FF2B5EF4-FFF2-40B4-BE49-F238E27FC236}">
                <a16:creationId xmlns:a16="http://schemas.microsoft.com/office/drawing/2014/main" id="{F762E5DD-22E4-9F53-B184-E573008B363D}"/>
              </a:ext>
            </a:extLst>
          </p:cNvPr>
          <p:cNvSpPr>
            <a:spLocks noGrp="1"/>
          </p:cNvSpPr>
          <p:nvPr>
            <p:ph type="body" idx="1"/>
          </p:nvPr>
        </p:nvSpPr>
        <p:spPr>
          <a:xfrm>
            <a:off x="831850" y="939801"/>
            <a:ext cx="10515600" cy="3234266"/>
          </a:xfrm>
        </p:spPr>
        <p:txBody>
          <a:bodyPr>
            <a:normAutofit/>
          </a:bodyPr>
          <a:lstStyle/>
          <a:p>
            <a:pPr lvl="0"/>
            <a:r>
              <a:rPr lang="en-US" b="1" dirty="0"/>
              <a:t>Data Collection</a:t>
            </a:r>
            <a:r>
              <a:rPr lang="en-US" dirty="0"/>
              <a:t> → Collect IPL historical data </a:t>
            </a:r>
          </a:p>
          <a:p>
            <a:pPr lvl="0"/>
            <a:r>
              <a:rPr lang="en-US" b="1" dirty="0"/>
              <a:t>Data Preprocessing</a:t>
            </a:r>
            <a:r>
              <a:rPr lang="en-US" dirty="0"/>
              <a:t> → Clean and prepare data </a:t>
            </a:r>
          </a:p>
          <a:p>
            <a:pPr lvl="0"/>
            <a:r>
              <a:rPr lang="en-US" b="1" dirty="0"/>
              <a:t>Feature Selection</a:t>
            </a:r>
            <a:r>
              <a:rPr lang="en-US" dirty="0"/>
              <a:t> → Select important features </a:t>
            </a:r>
          </a:p>
          <a:p>
            <a:pPr lvl="0"/>
            <a:r>
              <a:rPr lang="en-US" b="1" dirty="0"/>
              <a:t>Model Training</a:t>
            </a:r>
            <a:r>
              <a:rPr lang="en-US" dirty="0"/>
              <a:t> → Random Forest + Logistic Regression </a:t>
            </a:r>
          </a:p>
          <a:p>
            <a:pPr lvl="0"/>
            <a:r>
              <a:rPr lang="en-US" b="1" dirty="0"/>
              <a:t>Model Evaluation</a:t>
            </a:r>
            <a:r>
              <a:rPr lang="en-US" dirty="0"/>
              <a:t> → Compare model performance </a:t>
            </a:r>
          </a:p>
          <a:p>
            <a:pPr lvl="0"/>
            <a:r>
              <a:rPr lang="en-US" b="1" dirty="0"/>
              <a:t>Prediction</a:t>
            </a:r>
            <a:r>
              <a:rPr lang="en-US" dirty="0"/>
              <a:t> → Predict the match winner</a:t>
            </a:r>
          </a:p>
          <a:p>
            <a:endParaRPr lang="en-IN" dirty="0"/>
          </a:p>
        </p:txBody>
      </p:sp>
    </p:spTree>
    <p:extLst>
      <p:ext uri="{BB962C8B-B14F-4D97-AF65-F5344CB8AC3E}">
        <p14:creationId xmlns:p14="http://schemas.microsoft.com/office/powerpoint/2010/main" val="359084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FE026-EB47-5CF1-7E1F-4586B79748D3}"/>
              </a:ext>
            </a:extLst>
          </p:cNvPr>
          <p:cNvSpPr>
            <a:spLocks noGrp="1"/>
          </p:cNvSpPr>
          <p:nvPr>
            <p:ph type="title"/>
          </p:nvPr>
        </p:nvSpPr>
        <p:spPr>
          <a:xfrm>
            <a:off x="831850" y="321735"/>
            <a:ext cx="10515600" cy="425517"/>
          </a:xfrm>
        </p:spPr>
        <p:txBody>
          <a:bodyPr/>
          <a:lstStyle/>
          <a:p>
            <a:r>
              <a:rPr lang="en-IN" dirty="0"/>
              <a:t>EXPECTED OUTCOME</a:t>
            </a:r>
          </a:p>
        </p:txBody>
      </p:sp>
      <p:pic>
        <p:nvPicPr>
          <p:cNvPr id="7" name="Picture 6">
            <a:extLst>
              <a:ext uri="{FF2B5EF4-FFF2-40B4-BE49-F238E27FC236}">
                <a16:creationId xmlns:a16="http://schemas.microsoft.com/office/drawing/2014/main" id="{73BCB6B1-FC00-BEF2-D08A-B3D01B196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747252"/>
            <a:ext cx="10287000" cy="5869858"/>
          </a:xfrm>
          <a:prstGeom prst="rect">
            <a:avLst/>
          </a:prstGeom>
        </p:spPr>
      </p:pic>
    </p:spTree>
    <p:extLst>
      <p:ext uri="{BB962C8B-B14F-4D97-AF65-F5344CB8AC3E}">
        <p14:creationId xmlns:p14="http://schemas.microsoft.com/office/powerpoint/2010/main" val="1631150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B30F30-7E71-6D14-BE45-8AB6F58BC447}"/>
              </a:ext>
            </a:extLst>
          </p:cNvPr>
          <p:cNvSpPr txBox="1"/>
          <p:nvPr/>
        </p:nvSpPr>
        <p:spPr>
          <a:xfrm>
            <a:off x="4955458" y="3293806"/>
            <a:ext cx="4477508" cy="1015663"/>
          </a:xfrm>
          <a:prstGeom prst="rect">
            <a:avLst/>
          </a:prstGeom>
          <a:noFill/>
        </p:spPr>
        <p:txBody>
          <a:bodyPr wrap="none" rtlCol="0">
            <a:spAutoFit/>
          </a:bodyPr>
          <a:lstStyle/>
          <a:p>
            <a:r>
              <a:rPr lang="en-US" sz="6000" b="1" dirty="0"/>
              <a:t>THANK YOU</a:t>
            </a:r>
          </a:p>
        </p:txBody>
      </p:sp>
    </p:spTree>
    <p:extLst>
      <p:ext uri="{BB962C8B-B14F-4D97-AF65-F5344CB8AC3E}">
        <p14:creationId xmlns:p14="http://schemas.microsoft.com/office/powerpoint/2010/main" val="653309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104</TotalTime>
  <Words>459</Words>
  <Application>Microsoft Office PowerPoint</Application>
  <PresentationFormat>Widescreen</PresentationFormat>
  <Paragraphs>47</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Calibri</vt:lpstr>
      <vt:lpstr>Century Gothic</vt:lpstr>
      <vt:lpstr>Wingdings 3</vt:lpstr>
      <vt:lpstr>Ion</vt:lpstr>
      <vt:lpstr>IPL Prediction System Using Random Forest Ensimble Learning And Logistic Regression</vt:lpstr>
      <vt:lpstr>Problem Statement</vt:lpstr>
      <vt:lpstr>Real-world relevance</vt:lpstr>
      <vt:lpstr>Motivation for selecting the problem</vt:lpstr>
      <vt:lpstr>Objectives</vt:lpstr>
      <vt:lpstr>Literature survey/existing system</vt:lpstr>
      <vt:lpstr>Project Methodology </vt:lpstr>
      <vt:lpstr>EXPECTED OUTCOME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ALURU SRI TEJASWI PRIYANK 2420030276</dc:creator>
  <cp:lastModifiedBy>Tanay Tej Gatla</cp:lastModifiedBy>
  <cp:revision>9</cp:revision>
  <dcterms:created xsi:type="dcterms:W3CDTF">2026-09-09T09:43:58Z</dcterms:created>
  <dcterms:modified xsi:type="dcterms:W3CDTF">2026-09-15T15:45:54Z</dcterms:modified>
</cp:coreProperties>
</file>